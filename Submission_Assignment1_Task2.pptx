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  <p:sldId id="259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4A4E-87A3-0586-50F4-A7CED6B91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13A4E-C3C3-FB09-B885-EE704461E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86ABA-1E82-AAF9-8893-EAE1C1F3F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6A24-412B-8E0C-938D-4334D43C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78A39-A92A-EE4C-E341-9B12AFC1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444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9867-3F78-00AB-A7B3-DF799126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8B124-4CC1-87CC-E6CE-B94A601A1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4B8C0-2E98-70BB-AFAA-3DE92D0B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E2920-07B8-09BF-3716-66F7B332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2480D-089E-FAEE-9209-6E8515A7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68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D910-263A-FC2F-295A-C90E51E84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395FD-5250-3A9F-B59A-719FECD5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974D5-9175-981A-A39B-79945551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3A0BA-7308-A24C-8512-875586C2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BC540-71CD-2A3A-F89F-95C3A7F4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62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EFCF-5FC4-D413-3FC2-3B030249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720C-B42A-736F-3B3B-53FDC5AB9E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87179-19F1-AFEF-2AEE-27F26E796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404D0-929A-F503-706A-E175F3E73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218BA-87E6-9A41-4459-C90A8E01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84E54-4362-42A2-4391-8CC1811A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81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DF76-1EBB-60B2-D2B4-23166409C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7DCF-1D55-3AF7-5BF1-23B93E4F3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A13DD-254B-4A0C-D475-2FFDC993C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AA4B7-3F6D-6A2C-ED75-E7D297359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0093E7-999C-B87E-B906-87836E514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A11CB-8062-938D-E19B-B6CFDCD4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820DC9-5E5E-5FB3-7B65-DD6CEC2B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BA3C1-3BE8-48C1-DE21-2CAA3FD2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42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E033-2ACA-1FCC-DF33-0F1249F9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48C7A-F2C2-818E-A97B-CACBAEEA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74C14-2657-4955-3C6B-3827520C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E7DF8-0BEF-3859-3D48-82A0ADA8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58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CCAFF-D92E-6831-48A2-1829E41F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EDEA60-7C8A-2EB7-777E-3CF3CB28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00171-8FFE-C977-9710-5AC59994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83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E852-4BE4-3001-62BA-DA66FCF7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1E452-EA8A-98C5-2C11-7810006B1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56E1B-019D-3E8A-EE31-20E4523DA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9FE2E-0DDC-6854-0E39-93D6254A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4CCFD-1B67-6F60-1997-C5F31FEF5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A4CA2-8B99-3552-C8BE-74665291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68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30E8-3DB9-D2CC-6B30-7E4CC608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36875-04A9-FB0B-5731-D3D75130A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0816B-489B-5CC3-8E54-EF65DCBA1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7642F-E7C6-2378-5223-50596EDC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3186A-030F-1DEA-7241-F18D8C97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5A59-5E90-B6E4-5993-44B3CF9B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645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F4EB7-09C6-C9D2-8012-1711FB94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32970-3D2C-4F54-D43E-6415816DD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ECE29-95CB-56CE-32ED-DED6820CB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E821E-8405-F98D-E4F7-4BD9228C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244A9-3E4B-AFDF-9B24-8623E3C6F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10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26A49-7F6F-712A-0BD1-123A1D23B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7170EE-752D-4D76-FD4B-EFC2538BC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CBB21-77EF-7EB3-B7CB-C3251A8E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EF4EC-E4A4-32D7-803D-424446016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F3C6F-E35A-14F5-347C-A92A4B00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10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D885E-CFD1-A4C7-CB33-1DDAE3E0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5D2A-043B-3112-FC9E-784F1B352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496C-5367-8F08-E41B-2624ECCED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DA068-8E64-403A-BA94-E692E38CABE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11986-AF38-7932-0B83-3AB395A4E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89E98-A12D-9D83-50D5-2187B0011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F6789-F511-454C-A065-1F9AC986A842}" type="slidenum">
              <a:rPr lang="en-IN" smtClean="0"/>
              <a:t>‹#›</a:t>
            </a:fld>
            <a:endParaRPr lang="en-IN"/>
          </a:p>
        </p:txBody>
      </p:sp>
      <p:sp>
        <p:nvSpPr>
          <p:cNvPr id="1001" name="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58A6FF"/>
              </a:gs>
              <a:gs pos="50000">
                <a:srgbClr val="BC8CFF"/>
              </a:gs>
              <a:gs pos="100000">
                <a:srgbClr val="3FB950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DotAccent"/>
          <p:cNvSpPr/>
          <p:nvPr/>
        </p:nvSpPr>
        <p:spPr>
          <a:xfrm>
            <a:off x="11200000" y="6300000"/>
            <a:ext cx="500000" cy="500000"/>
          </a:xfrm>
          <a:prstGeom prst="ellipse">
            <a:avLst/>
          </a:prstGeom>
          <a:solidFill>
            <a:srgbClr val="58A6FF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" name="TopBar"/>
          <p:cNvSpPr/>
          <p:nvPr userDrawn="1"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ttomLine"/>
          <p:cNvSpPr/>
          <p:nvPr userDrawn="1"/>
        </p:nvSpPr>
        <p:spPr>
          <a:xfrm>
            <a:off x="457200" y="6583680"/>
            <a:ext cx="1127760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3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E5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B0BEC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B0BEC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B0BEC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07CA-1B82-1234-4145-8CD4261A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2600"/>
            <a:ext cx="8890000" cy="558800"/>
          </a:xfrm>
        </p:spPr>
        <p:txBody>
          <a:bodyPr>
            <a:normAutofit/>
          </a:bodyPr>
          <a:lstStyle/>
          <a:p>
            <a:r>
              <a:rPr lang="en-IN" sz="2800" b="1" dirty="0"/>
              <a:t>The Problem</a:t>
            </a:r>
          </a:p>
        </p:txBody>
      </p:sp>
      <p:sp>
        <p:nvSpPr>
          <p:cNvPr id="10" name="TagLine"/>
          <p:cNvSpPr txBox="1"/>
          <p:nvPr/>
        </p:nvSpPr>
        <p:spPr>
          <a:xfrm>
            <a:off x="838200" y="15240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VOICECARE.AI  |  AI GROWTH ENGINE AGENT</a:t>
            </a:r>
          </a:p>
        </p:txBody>
      </p:sp>
      <p:sp>
        <p:nvSpPr>
          <p:cNvPr id="11" name="Context"/>
          <p:cNvSpPr txBox="1"/>
          <p:nvPr/>
        </p:nvSpPr>
        <p:spPr>
          <a:xfrm>
            <a:off x="838200" y="1117600"/>
            <a:ext cx="105156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buNone/>
            </a:pPr>
            <a:r>
              <a:rPr lang="en-US" sz="1600" dirty="0">
                <a:solidFill>
                  <a:srgbClr val="2D3E5F"/>
                </a:solidFill>
                <a:latin typeface="Aptos"/>
              </a:rPr>
              <a:t>VoiceCare.ai operates in a AI voice analytics market. Growing organically on LinkedIn and AI search engines requires a fundamentally different approach than traditional marketing.</a:t>
            </a:r>
          </a:p>
        </p:txBody>
      </p:sp>
      <p:sp>
        <p:nvSpPr>
          <p:cNvPr id="20" name="Card1"/>
          <p:cNvSpPr/>
          <p:nvPr/>
        </p:nvSpPr>
        <p:spPr>
          <a:xfrm>
            <a:off x="838200" y="2133600"/>
            <a:ext cx="3302000" cy="2794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>
              <a:buNone/>
            </a:pPr>
            <a:r>
              <a:rPr lang="en-US" sz="2800" b="1" dirty="0">
                <a:solidFill>
                  <a:srgbClr val="0066CC"/>
                </a:solidFill>
                <a:latin typeface="Aptos Display"/>
              </a:rPr>
              <a:t>2,900</a:t>
            </a:r>
            <a:r>
              <a:rPr lang="en-US" sz="1800" b="1" dirty="0">
                <a:solidFill>
                  <a:srgbClr val="00A878"/>
                </a:solidFill>
                <a:latin typeface="Aptos"/>
              </a:rPr>
              <a:t> → 10,000</a:t>
            </a:r>
          </a:p>
          <a:p>
            <a:pPr algn="l">
              <a:buNone/>
            </a:pPr>
            <a:r>
              <a:rPr lang="en-US" sz="1600" b="1" dirty="0">
                <a:solidFill>
                  <a:srgbClr val="1B2A4A"/>
                </a:solidFill>
                <a:latin typeface="Aptos"/>
              </a:rPr>
              <a:t>The Follower Gap</a:t>
            </a:r>
          </a:p>
          <a:p>
            <a:pPr algn="l">
              <a:buNone/>
            </a:pPr>
            <a:r>
              <a:rPr lang="en-US" sz="1400" dirty="0">
                <a:solidFill>
                  <a:srgbClr val="2D3E5F"/>
                </a:solidFill>
                <a:latin typeface="Aptos"/>
              </a:rPr>
              <a:t>3.4x growth needed in 90 days. ~584 new followers per week, organically.</a:t>
            </a:r>
          </a:p>
        </p:txBody>
      </p:sp>
      <p:sp>
        <p:nvSpPr>
          <p:cNvPr id="21" name="Card2"/>
          <p:cNvSpPr/>
          <p:nvPr/>
        </p:nvSpPr>
        <p:spPr>
          <a:xfrm>
            <a:off x="4368800" y="2133600"/>
            <a:ext cx="3302000" cy="2794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>
              <a:buNone/>
            </a:pPr>
            <a:r>
              <a:rPr lang="en-US" sz="2800" b="1" dirty="0">
                <a:solidFill>
                  <a:srgbClr val="7B68EE"/>
                </a:solidFill>
                <a:latin typeface="Aptos Display"/>
              </a:rPr>
              <a:t>Understand</a:t>
            </a:r>
            <a:r>
              <a:rPr lang="en-US" sz="1600" dirty="0">
                <a:solidFill>
                  <a:srgbClr val="2D3E5F"/>
                </a:solidFill>
                <a:latin typeface="Aptos"/>
              </a:rPr>
              <a:t> major competitors</a:t>
            </a:r>
          </a:p>
          <a:p>
            <a:pPr algn="l">
              <a:buNone/>
            </a:pPr>
            <a:r>
              <a:rPr lang="en-US" sz="1600" b="1" dirty="0">
                <a:solidFill>
                  <a:srgbClr val="1B2A4A"/>
                </a:solidFill>
                <a:latin typeface="Aptos"/>
              </a:rPr>
              <a:t>Competitive Noise</a:t>
            </a:r>
          </a:p>
          <a:p>
            <a:pPr algn="l">
              <a:buNone/>
            </a:pPr>
            <a:r>
              <a:rPr lang="en-US" sz="1400" dirty="0">
                <a:solidFill>
                  <a:srgbClr val="2D3E5F"/>
                </a:solidFill>
                <a:latin typeface="Aptos"/>
              </a:rPr>
              <a:t>content and paid channels.</a:t>
            </a:r>
          </a:p>
        </p:txBody>
      </p:sp>
      <p:sp>
        <p:nvSpPr>
          <p:cNvPr id="22" name="Card3"/>
          <p:cNvSpPr/>
          <p:nvPr/>
        </p:nvSpPr>
        <p:spPr>
          <a:xfrm>
            <a:off x="7899400" y="2133600"/>
            <a:ext cx="3302000" cy="27940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>
              <a:buNone/>
            </a:pPr>
            <a:r>
              <a:rPr lang="en-US" sz="2800" b="1" dirty="0">
                <a:solidFill>
                  <a:srgbClr val="7B68EE"/>
                </a:solidFill>
                <a:latin typeface="Aptos Display"/>
              </a:rPr>
              <a:t>Increase</a:t>
            </a:r>
            <a:r>
              <a:rPr lang="en-US" sz="1600" dirty="0">
                <a:solidFill>
                  <a:srgbClr val="2D3E5F"/>
                </a:solidFill>
                <a:latin typeface="Aptos"/>
              </a:rPr>
              <a:t> AI engine visibility</a:t>
            </a:r>
          </a:p>
          <a:p>
            <a:pPr algn="l">
              <a:buNone/>
            </a:pPr>
            <a:r>
              <a:rPr lang="en-US" sz="1600" b="1" dirty="0">
                <a:solidFill>
                  <a:srgbClr val="1B2A4A"/>
                </a:solidFill>
                <a:latin typeface="Aptos"/>
              </a:rPr>
              <a:t>AI Search Blindspot</a:t>
            </a:r>
          </a:p>
          <a:p>
            <a:pPr algn="l">
              <a:buNone/>
            </a:pPr>
            <a:r>
              <a:rPr lang="en-US" sz="1400" dirty="0">
                <a:solidFill>
                  <a:srgbClr val="2D3E5F"/>
                </a:solidFill>
                <a:latin typeface="Aptos"/>
              </a:rPr>
              <a:t>ChatGPT, Perplexity, Gemini rarely cite VoiceCare.ai. The new SEO battleground is invisible.</a:t>
            </a:r>
          </a:p>
        </p:txBody>
      </p:sp>
    </p:spTree>
    <p:extLst>
      <p:ext uri="{BB962C8B-B14F-4D97-AF65-F5344CB8AC3E}">
        <p14:creationId xmlns:p14="http://schemas.microsoft.com/office/powerpoint/2010/main" val="100877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64D36-C738-51DC-94DD-F4FBD09A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7620000" cy="482600"/>
          </a:xfrm>
        </p:spPr>
        <p:txBody>
          <a:bodyPr>
            <a:normAutofit/>
          </a:bodyPr>
          <a:lstStyle/>
          <a:p>
            <a:r>
              <a:rPr lang="en-US" sz="2400" b="1"/>
              <a:t>How We Built It: The AI Growth Engine</a:t>
            </a:r>
            <a:endParaRPr lang="en-IN" sz="2400" b="1"/>
          </a:p>
        </p:txBody>
      </p:sp>
      <p:sp>
        <p:nvSpPr>
          <p:cNvPr id="10" name="TagLine2"/>
          <p:cNvSpPr txBox="1"/>
          <p:nvPr/>
        </p:nvSpPr>
        <p:spPr>
          <a:xfrm>
            <a:off x="838200" y="152400"/>
            <a:ext cx="105156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SYSTEM ARCHITECTURE  |  END-TO-END WORKFLOW</a:t>
            </a:r>
          </a:p>
        </p:txBody>
      </p:sp>
      <p:sp>
        <p:nvSpPr>
          <p:cNvPr id="20" name="CLI"/>
          <p:cNvSpPr/>
          <p:nvPr/>
        </p:nvSpPr>
        <p:spPr>
          <a:xfrm>
            <a:off x="838200" y="1041400"/>
            <a:ext cx="2286000" cy="6096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CLI Entry Point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run.py (Click)</a:t>
            </a:r>
          </a:p>
        </p:txBody>
      </p:sp>
      <p:sp>
        <p:nvSpPr>
          <p:cNvPr id="25" name="Arrow1"/>
          <p:cNvSpPr/>
          <p:nvPr/>
        </p:nvSpPr>
        <p:spPr>
          <a:xfrm>
            <a:off x="1866900" y="1663700"/>
            <a:ext cx="2286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66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Orchestrator"/>
          <p:cNvSpPr/>
          <p:nvPr/>
        </p:nvSpPr>
        <p:spPr>
          <a:xfrm>
            <a:off x="838200" y="1930400"/>
            <a:ext cx="2286000" cy="609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Orchestrator</a:t>
            </a:r>
          </a:p>
          <a:p>
            <a:pPr algn="ctr">
              <a:buNone/>
            </a:pPr>
            <a:r>
              <a:rPr lang="en-US" sz="1400" dirty="0">
                <a:solidFill>
                  <a:srgbClr val="CCCCCC"/>
                </a:solidFill>
                <a:latin typeface="Aptos"/>
              </a:rPr>
              <a:t>Config + Routing + Init</a:t>
            </a:r>
          </a:p>
        </p:txBody>
      </p:sp>
      <p:sp>
        <p:nvSpPr>
          <p:cNvPr id="26" name="Arrow2"/>
          <p:cNvSpPr/>
          <p:nvPr/>
        </p:nvSpPr>
        <p:spPr>
          <a:xfrm>
            <a:off x="1866900" y="2552700"/>
            <a:ext cx="2286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B2A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Module0"/>
          <p:cNvSpPr/>
          <p:nvPr/>
        </p:nvSpPr>
        <p:spPr>
          <a:xfrm>
            <a:off x="838200" y="2844800"/>
            <a:ext cx="1651000" cy="17780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Competitor
Analyzer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SEMrush data +
GPT-5 analysis</a:t>
            </a:r>
          </a:p>
        </p:txBody>
      </p:sp>
      <p:sp>
        <p:nvSpPr>
          <p:cNvPr id="31" name="Module1"/>
          <p:cNvSpPr/>
          <p:nvPr/>
        </p:nvSpPr>
        <p:spPr>
          <a:xfrm>
            <a:off x="2565400" y="2844800"/>
            <a:ext cx="1651000" cy="1778000"/>
          </a:xfrm>
          <a:prstGeom prst="roundRect">
            <a:avLst/>
          </a:prstGeom>
          <a:solidFill>
            <a:srgbClr val="00A878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LinkedIn
Growth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Content calendars
+ viral posts</a:t>
            </a:r>
          </a:p>
        </p:txBody>
      </p:sp>
      <p:sp>
        <p:nvSpPr>
          <p:cNvPr id="32" name="Module2"/>
          <p:cNvSpPr/>
          <p:nvPr/>
        </p:nvSpPr>
        <p:spPr>
          <a:xfrm>
            <a:off x="4292600" y="2844800"/>
            <a:ext cx="1651000" cy="1778000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GEO
Optimizer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AI engine
visibility audit</a:t>
            </a:r>
          </a:p>
        </p:txBody>
      </p:sp>
      <p:sp>
        <p:nvSpPr>
          <p:cNvPr id="33" name="Module3"/>
          <p:cNvSpPr/>
          <p:nvPr/>
        </p:nvSpPr>
        <p:spPr>
          <a:xfrm>
            <a:off x="6019800" y="2844800"/>
            <a:ext cx="1651000" cy="1778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Content
Generator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Carousels, polls,
thought leadership</a:t>
            </a:r>
          </a:p>
        </p:txBody>
      </p:sp>
      <p:sp>
        <p:nvSpPr>
          <p:cNvPr id="34" name="Module4"/>
          <p:cNvSpPr/>
          <p:nvPr/>
        </p:nvSpPr>
        <p:spPr>
          <a:xfrm>
            <a:off x="7747000" y="2844800"/>
            <a:ext cx="1651000" cy="17780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Growth
Hacks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12-week phased
playbook</a:t>
            </a:r>
          </a:p>
        </p:txBody>
      </p:sp>
      <p:sp>
        <p:nvSpPr>
          <p:cNvPr id="35" name="Module5"/>
          <p:cNvSpPr/>
          <p:nvPr/>
        </p:nvSpPr>
        <p:spPr>
          <a:xfrm>
            <a:off x="9474200" y="2844800"/>
            <a:ext cx="1651000" cy="17780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/>
              </a:rPr>
              <a:t>Analytics
+ Reporting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Weekly KPIs
vs. targets</a:t>
            </a:r>
          </a:p>
        </p:txBody>
      </p:sp>
      <p:sp>
        <p:nvSpPr>
          <p:cNvPr id="40" name="CoreEngine"/>
          <p:cNvSpPr/>
          <p:nvPr/>
        </p:nvSpPr>
        <p:spPr>
          <a:xfrm>
            <a:off x="3683000" y="1041400"/>
            <a:ext cx="3556000" cy="609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0066CC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/>
              </a:rPr>
              <a:t>Core AI Engine (GPT-5)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  <a:latin typeface="Aptos"/>
              </a:rPr>
              <a:t>Web Search + Structured JSON + Citations</a:t>
            </a:r>
          </a:p>
        </p:txBody>
      </p:sp>
      <p:sp>
        <p:nvSpPr>
          <p:cNvPr id="41" name="OpenAI"/>
          <p:cNvSpPr/>
          <p:nvPr/>
        </p:nvSpPr>
        <p:spPr>
          <a:xfrm>
            <a:off x="3683000" y="1930400"/>
            <a:ext cx="1714500" cy="609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B2A4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ptos"/>
              </a:rPr>
              <a:t>OpenAI API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  <a:latin typeface="Aptos"/>
              </a:rPr>
              <a:t>Responses API</a:t>
            </a:r>
          </a:p>
        </p:txBody>
      </p:sp>
      <p:sp>
        <p:nvSpPr>
          <p:cNvPr id="42" name="SEMrush"/>
          <p:cNvSpPr/>
          <p:nvPr/>
        </p:nvSpPr>
        <p:spPr>
          <a:xfrm>
            <a:off x="5524500" y="1930400"/>
            <a:ext cx="1714500" cy="609600"/>
          </a:xfrm>
          <a:prstGeom prst="roundRect">
            <a:avLst/>
          </a:prstGeom>
          <a:solidFill>
            <a:srgbClr val="F4F6F9"/>
          </a:solidFill>
          <a:ln w="19050">
            <a:solidFill>
              <a:srgbClr val="1B2A4A"/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B2A4A"/>
                </a:solidFill>
                <a:latin typeface="Aptos"/>
              </a:rPr>
              <a:t>SEMrush API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  <a:latin typeface="Aptos"/>
              </a:rPr>
              <a:t>Real SEO Data</a:t>
            </a:r>
          </a:p>
        </p:txBody>
      </p:sp>
      <p:sp>
        <p:nvSpPr>
          <p:cNvPr id="50" name="DataFlow"/>
          <p:cNvSpPr txBox="1"/>
          <p:nvPr/>
        </p:nvSpPr>
        <p:spPr>
          <a:xfrm>
            <a:off x="7747000" y="1041400"/>
            <a:ext cx="355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1B2A4A"/>
                </a:solidFill>
                <a:latin typeface="Aptos"/>
              </a:rPr>
              <a:t>Data Flow Pattern</a:t>
            </a:r>
          </a:p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1.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config.yaml loads targets</a:t>
            </a:r>
          </a:p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2.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SEMrush injects real data</a:t>
            </a:r>
          </a:p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3.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GPT-5 + web search reasons</a:t>
            </a:r>
          </a:p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4.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Structured JSON + citations out</a:t>
            </a:r>
          </a:p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5.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Saved to reports + displayed</a:t>
            </a:r>
          </a:p>
        </p:txBody>
      </p:sp>
      <p:sp>
        <p:nvSpPr>
          <p:cNvPr id="51" name="Tools"/>
          <p:cNvSpPr txBox="1"/>
          <p:nvPr/>
        </p:nvSpPr>
        <p:spPr>
          <a:xfrm>
            <a:off x="7747000" y="4826000"/>
            <a:ext cx="3556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buNone/>
            </a:pPr>
            <a:r>
              <a:rPr lang="en-US" sz="1400" b="1" dirty="0">
                <a:solidFill>
                  <a:srgbClr val="1B2A4A"/>
                </a:solidFill>
                <a:latin typeface="Aptos"/>
              </a:rPr>
              <a:t>Key Tools</a:t>
            </a:r>
          </a:p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●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 OpenAI GPT-5 (Responses/</a:t>
            </a:r>
            <a:r>
              <a:rPr lang="en-US" sz="1400" dirty="0" err="1">
                <a:solidFill>
                  <a:srgbClr val="2D3E5F"/>
                </a:solidFill>
                <a:latin typeface="Aptos"/>
              </a:rPr>
              <a:t>Websearch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API)</a:t>
            </a:r>
          </a:p>
          <a:p>
            <a:pPr algn="l">
              <a:buNone/>
            </a:pPr>
            <a:r>
              <a:rPr lang="en-US" sz="1400" dirty="0">
                <a:solidFill>
                  <a:srgbClr val="00A878"/>
                </a:solidFill>
                <a:latin typeface="Aptos"/>
              </a:rPr>
              <a:t>●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 SEMrush REST API</a:t>
            </a:r>
          </a:p>
          <a:p>
            <a:pPr algn="l">
              <a:buNone/>
            </a:pPr>
            <a:r>
              <a:rPr lang="en-US" sz="1400" dirty="0">
                <a:solidFill>
                  <a:srgbClr val="FF6B35"/>
                </a:solidFill>
                <a:latin typeface="Aptos"/>
              </a:rPr>
              <a:t>●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 Click CLI + Rich Terminal</a:t>
            </a:r>
          </a:p>
          <a:p>
            <a:pPr algn="l">
              <a:buNone/>
            </a:pPr>
            <a:r>
              <a:rPr lang="en-US" sz="1400" dirty="0">
                <a:solidFill>
                  <a:srgbClr val="7B68EE"/>
                </a:solidFill>
                <a:latin typeface="Aptos"/>
              </a:rPr>
              <a:t>●</a:t>
            </a:r>
            <a:r>
              <a:rPr lang="en-US" sz="1400" dirty="0">
                <a:solidFill>
                  <a:srgbClr val="2D3E5F"/>
                </a:solidFill>
                <a:latin typeface="Aptos"/>
              </a:rPr>
              <a:t>  BeautifulSoup4 + Requests</a:t>
            </a:r>
          </a:p>
        </p:txBody>
      </p:sp>
      <p:cxnSp>
        <p:nvCxnSpPr>
          <p:cNvPr id="60" name="Connector1"/>
          <p:cNvCxnSpPr/>
          <p:nvPr/>
        </p:nvCxnSpPr>
        <p:spPr>
          <a:xfrm>
            <a:off x="3124200" y="2159000"/>
            <a:ext cx="533400" cy="0"/>
          </a:xfrm>
          <a:prstGeom prst="straightConnector1">
            <a:avLst/>
          </a:prstGeom>
          <a:ln w="25400">
            <a:solidFill>
              <a:srgbClr val="0066CC"/>
            </a:solidFill>
            <a:tailEnd type="triangle"/>
          </a:ln>
        </p:spPr>
      </p:cxnSp>
      <p:cxnSp>
        <p:nvCxnSpPr>
          <p:cNvPr id="61" name="Connector2"/>
          <p:cNvCxnSpPr/>
          <p:nvPr/>
        </p:nvCxnSpPr>
        <p:spPr>
          <a:xfrm>
            <a:off x="5461000" y="1663700"/>
            <a:ext cx="0" cy="320040"/>
          </a:xfrm>
          <a:prstGeom prst="straightConnector1">
            <a:avLst/>
          </a:prstGeom>
          <a:ln w="19050">
            <a:solidFill>
              <a:srgbClr val="1B2A4A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116427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2D467-1014-4851-5ECC-E52DF23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500"/>
            <a:ext cx="7620000" cy="508000"/>
          </a:xfrm>
        </p:spPr>
        <p:txBody>
          <a:bodyPr>
            <a:normAutofit/>
          </a:bodyPr>
          <a:lstStyle/>
          <a:p>
            <a:r>
              <a:rPr lang="en-US" sz="2400" b="1"/>
              <a:t>Conclusion: The Path to 10,000</a:t>
            </a:r>
            <a:endParaRPr lang="en-IN" sz="2400" b="1"/>
          </a:p>
        </p:txBody>
      </p:sp>
      <p:sp>
        <p:nvSpPr>
          <p:cNvPr id="10" name="TagLine3"/>
          <p:cNvSpPr txBox="1"/>
          <p:nvPr/>
        </p:nvSpPr>
        <p:spPr>
          <a:xfrm>
            <a:off x="838200" y="127000"/>
            <a:ext cx="10515600" cy="317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buNone/>
            </a:pPr>
            <a:r>
              <a:rPr lang="en-US" sz="1400" dirty="0">
                <a:solidFill>
                  <a:srgbClr val="0066CC"/>
                </a:solidFill>
                <a:latin typeface="Aptos"/>
              </a:rPr>
              <a:t>STRATEGIC IMPACT  |  WHAT THIS MEANS FOR VOICECARE.AI</a:t>
            </a:r>
          </a:p>
        </p:txBody>
      </p:sp>
      <p:sp>
        <p:nvSpPr>
          <p:cNvPr id="11" name="Insight"/>
          <p:cNvSpPr txBox="1"/>
          <p:nvPr/>
        </p:nvSpPr>
        <p:spPr>
          <a:xfrm>
            <a:off x="838200" y="1143000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>
              <a:buNone/>
            </a:pPr>
            <a:r>
              <a:rPr lang="en-US" sz="1600" dirty="0">
                <a:solidFill>
                  <a:srgbClr val="2D3E5F"/>
                </a:solidFill>
                <a:latin typeface="Aptos"/>
              </a:rPr>
              <a:t>This AI agent replaces a 3-person growth marketing team. It operates 24/7, produces data-grounded strategies, and scales from one company to many — all without paid spend.</a:t>
            </a:r>
          </a:p>
        </p:txBody>
      </p:sp>
      <p:sp>
        <p:nvSpPr>
          <p:cNvPr id="20" name="Phase1"/>
          <p:cNvSpPr/>
          <p:nvPr/>
        </p:nvSpPr>
        <p:spPr>
          <a:xfrm>
            <a:off x="838200" y="19685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WEEKS 1–4</a:t>
            </a:r>
          </a:p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/>
              </a:rPr>
              <a:t>Foundation</a:t>
            </a:r>
          </a:p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Competitor benchmarking, GEO audit, content engine setup, employee advocacy program launch</a:t>
            </a:r>
          </a:p>
        </p:txBody>
      </p:sp>
      <p:sp>
        <p:nvSpPr>
          <p:cNvPr id="21" name="Phase2"/>
          <p:cNvSpPr/>
          <p:nvPr/>
        </p:nvSpPr>
        <p:spPr>
          <a:xfrm>
            <a:off x="4267200" y="19685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00A87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WEEKS 5–8</a:t>
            </a:r>
          </a:p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/>
              </a:rPr>
              <a:t>Acceleration</a:t>
            </a:r>
          </a:p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Viral content loops, influencer collaborations, newsletter scale-up, algorithm optimization</a:t>
            </a:r>
          </a:p>
        </p:txBody>
      </p:sp>
      <p:sp>
        <p:nvSpPr>
          <p:cNvPr id="22" name="Phase3"/>
          <p:cNvSpPr/>
          <p:nvPr/>
        </p:nvSpPr>
        <p:spPr>
          <a:xfrm>
            <a:off x="7696200" y="19685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WEEKS 9–12</a:t>
            </a:r>
          </a:p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/>
              </a:rPr>
              <a:t>Viral Growth</a:t>
            </a:r>
          </a:p>
          <a:p>
            <a:pPr algn="l">
              <a:buNone/>
            </a:pPr>
            <a:r>
              <a:rPr lang="en-US" sz="1400" dirty="0">
                <a:solidFill>
                  <a:srgbClr val="FFFFFF"/>
                </a:solidFill>
                <a:latin typeface="Aptos"/>
              </a:rPr>
              <a:t>Partnership growth strategies, event amplification, full AI visibility across 5 engines</a:t>
            </a:r>
          </a:p>
        </p:txBody>
      </p:sp>
      <p:sp>
        <p:nvSpPr>
          <p:cNvPr id="30" name="KPIStrip"/>
          <p:cNvSpPr/>
          <p:nvPr/>
        </p:nvSpPr>
        <p:spPr>
          <a:xfrm>
            <a:off x="838200" y="4000500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9050">
            <a:solidFill>
              <a:srgbClr val="E8ECF1"/>
            </a:solidFill>
          </a:ln>
        </p:spPr>
        <p:txBody>
          <a:bodyPr wrap="square" lIns="137160" tIns="91440" rIns="137160" bIns="9144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B2A4A"/>
                </a:solidFill>
                <a:latin typeface="Aptos Display"/>
              </a:rPr>
              <a:t>Target Outcome:  </a:t>
            </a:r>
            <a:r>
              <a:rPr lang="en-US" sz="1600" b="1" dirty="0">
                <a:solidFill>
                  <a:srgbClr val="0066CC"/>
                </a:solidFill>
                <a:latin typeface="Aptos Display"/>
              </a:rPr>
              <a:t>10,000 LinkedIn followers</a:t>
            </a:r>
            <a:r>
              <a:rPr lang="en-US" sz="1600" dirty="0">
                <a:solidFill>
                  <a:srgbClr val="2D3E5F"/>
                </a:solidFill>
                <a:latin typeface="Aptos"/>
              </a:rPr>
              <a:t>   |   </a:t>
            </a:r>
            <a:r>
              <a:rPr lang="en-US" sz="1600" b="1" dirty="0">
                <a:solidFill>
                  <a:srgbClr val="00A878"/>
                </a:solidFill>
                <a:latin typeface="Aptos Display"/>
              </a:rPr>
              <a:t>Top-5 AI engine citations</a:t>
            </a:r>
            <a:endParaRPr lang="en-US" sz="1600" b="1" dirty="0">
              <a:solidFill>
                <a:srgbClr val="FF6B35"/>
              </a:solidFill>
              <a:latin typeface="Aptos Display"/>
            </a:endParaRPr>
          </a:p>
        </p:txBody>
      </p:sp>
      <p:sp>
        <p:nvSpPr>
          <p:cNvPr id="35" name="Takeaway"/>
          <p:cNvSpPr txBox="1"/>
          <p:nvPr/>
        </p:nvSpPr>
        <p:spPr>
          <a:xfrm>
            <a:off x="838200" y="50800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buNone/>
            </a:pPr>
            <a:r>
              <a:rPr lang="en-US" sz="1400" i="1" dirty="0">
                <a:solidFill>
                  <a:srgbClr val="1B2A4A"/>
                </a:solidFill>
                <a:latin typeface="Aptos"/>
              </a:rPr>
              <a:t>The core insight: SEMrush provides hard numbers, GPT-5 web search provides real-time context, and structured prompts turn both into actionable, publish-ready strategies.</a:t>
            </a:r>
          </a:p>
        </p:txBody>
      </p:sp>
    </p:spTree>
    <p:extLst>
      <p:ext uri="{BB962C8B-B14F-4D97-AF65-F5344CB8AC3E}">
        <p14:creationId xmlns:p14="http://schemas.microsoft.com/office/powerpoint/2010/main" val="348311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oiceCare Growth">
      <a:dk1>
        <a:srgbClr val="1B2A4A"/>
      </a:dk1>
      <a:lt1>
        <a:srgbClr val="FFFFFF"/>
      </a:lt1>
      <a:dk2>
        <a:srgbClr val="2D3E5F"/>
      </a:dk2>
      <a:lt2>
        <a:srgbClr val="F4F6F9"/>
      </a:lt2>
      <a:accent1>
        <a:srgbClr val="0066CC"/>
      </a:accent1>
      <a:accent2>
        <a:srgbClr val="00A878"/>
      </a:accent2>
      <a:accent3>
        <a:srgbClr val="FF6B35"/>
      </a:accent3>
      <a:accent4>
        <a:srgbClr val="7B68EE"/>
      </a:accent4>
      <a:accent5>
        <a:srgbClr val="E8ECF1"/>
      </a:accent5>
      <a:accent6>
        <a:srgbClr val="34495E"/>
      </a:accent6>
      <a:hlink>
        <a:srgbClr val="467886"/>
      </a:hlink>
      <a:folHlink>
        <a:srgbClr val="96607D"/>
      </a:folHlink>
    </a:clrScheme>
    <a:fontScheme name="VoiceCare Fonts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104573-85DE-4EAB-8C0E-69C9D7AB728E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395</Words>
  <Application>Microsoft Office PowerPoint</Application>
  <PresentationFormat>Widescreen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The Problem</vt:lpstr>
      <vt:lpstr>How We Built It: The AI Growth Engine</vt:lpstr>
      <vt:lpstr>Conclusion: The Path to 10,000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anand</dc:creator>
  <cp:lastModifiedBy>shubham anand</cp:lastModifiedBy>
  <cp:revision>2</cp:revision>
  <dcterms:created xsi:type="dcterms:W3CDTF">2026-03-15T14:57:12Z</dcterms:created>
  <dcterms:modified xsi:type="dcterms:W3CDTF">2026-03-15T15:16:37Z</dcterms:modified>
</cp:coreProperties>
</file>